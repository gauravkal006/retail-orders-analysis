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F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D48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800" b="1" i="0">
                <a:solidFill>
                  <a:srgbClr val="2F4A6D"/>
                </a:solidFill>
                <a:latin typeface="Calibri"/>
              </a:defRPr>
            </a:pPr>
            <a:r>
              <a:t>Retail Orders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 i="0">
                <a:solidFill>
                  <a:srgbClr val="6B6B6B"/>
                </a:solidFill>
                <a:latin typeface="Calibri"/>
              </a:defRPr>
            </a:pPr>
            <a:r>
              <a:t>End-to-end data analytics project with Python (pandas) and 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4712" y="2971800"/>
            <a:ext cx="1463040" cy="64008"/>
          </a:xfrm>
          <a:prstGeom prst="rect">
            <a:avLst/>
          </a:prstGeom>
          <a:solidFill>
            <a:srgbClr val="D48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333333"/>
                </a:solidFill>
                <a:latin typeface="Calibri"/>
              </a:defRPr>
            </a:pPr>
            <a:r>
              <a:t>Gaurav Kalamkhede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118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6B6B6B"/>
                </a:solidFill>
                <a:latin typeface="Calibri"/>
              </a:defRPr>
            </a:pPr>
            <a:r>
              <a:t>9,994 orders, 2022-2023  |  github.com/gauravkal006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4572000"/>
            <a:ext cx="2468880" cy="118872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" y="4572000"/>
            <a:ext cx="64008" cy="1188720"/>
          </a:xfrm>
          <a:prstGeom prst="rect">
            <a:avLst/>
          </a:prstGeom>
          <a:solidFill>
            <a:srgbClr val="2F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4681728"/>
            <a:ext cx="2194560" cy="6537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 i="0">
                <a:solidFill>
                  <a:srgbClr val="2F4A6D"/>
                </a:solidFill>
                <a:latin typeface="Calibri"/>
              </a:defRPr>
            </a:pPr>
            <a:r>
              <a:t>2,215,859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5261457"/>
            <a:ext cx="2194560" cy="4517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6B6B6B"/>
                </a:solidFill>
                <a:latin typeface="Calibri"/>
              </a:defRPr>
            </a:pPr>
            <a:r>
              <a:t>Total sales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40" y="4572000"/>
            <a:ext cx="2468880" cy="118872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49040" y="4572000"/>
            <a:ext cx="64008" cy="1188720"/>
          </a:xfrm>
          <a:prstGeom prst="rect">
            <a:avLst/>
          </a:prstGeom>
          <a:solidFill>
            <a:srgbClr val="2F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77640" y="4681728"/>
            <a:ext cx="2194560" cy="6537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 i="0">
                <a:solidFill>
                  <a:srgbClr val="2F4A6D"/>
                </a:solidFill>
                <a:latin typeface="Calibri"/>
              </a:defRPr>
            </a:pPr>
            <a:r>
              <a:t>205,169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40" y="5261457"/>
            <a:ext cx="2194560" cy="4517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6B6B6B"/>
                </a:solidFill>
                <a:latin typeface="Calibri"/>
              </a:defRPr>
            </a:pPr>
            <a:r>
              <a:t>Total profit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4572000"/>
            <a:ext cx="2468880" cy="118872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4572000"/>
            <a:ext cx="64008" cy="1188720"/>
          </a:xfrm>
          <a:prstGeom prst="rect">
            <a:avLst/>
          </a:prstGeom>
          <a:solidFill>
            <a:srgbClr val="2F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4681728"/>
            <a:ext cx="2194560" cy="6537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 i="0">
                <a:solidFill>
                  <a:srgbClr val="2F4A6D"/>
                </a:solidFill>
                <a:latin typeface="Calibri"/>
              </a:defRPr>
            </a:pPr>
            <a:r>
              <a:t>9.26%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5261457"/>
            <a:ext cx="2194560" cy="4517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6B6B6B"/>
                </a:solidFill>
                <a:latin typeface="Calibri"/>
              </a:defRPr>
            </a:pPr>
            <a:r>
              <a:t>Profit margin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4572000"/>
            <a:ext cx="2468880" cy="118872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60" y="4572000"/>
            <a:ext cx="64008" cy="1188720"/>
          </a:xfrm>
          <a:prstGeom prst="rect">
            <a:avLst/>
          </a:prstGeom>
          <a:solidFill>
            <a:srgbClr val="2F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4681728"/>
            <a:ext cx="2194560" cy="6537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 i="0">
                <a:solidFill>
                  <a:srgbClr val="2F4A6D"/>
                </a:solidFill>
                <a:latin typeface="Calibri"/>
              </a:defRPr>
            </a:pPr>
            <a:r>
              <a:t>+2.25%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5261457"/>
            <a:ext cx="2194560" cy="4517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6B6B6B"/>
                </a:solidFill>
                <a:latin typeface="Calibri"/>
              </a:defRPr>
            </a:pPr>
            <a:r>
              <a:t>Sales growth 2023 vs 2022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2F4A6D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987552"/>
            <a:ext cx="1188720" cy="54864"/>
          </a:xfrm>
          <a:prstGeom prst="rect">
            <a:avLst/>
          </a:prstGeom>
          <a:solidFill>
            <a:srgbClr val="D48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D0D7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B6B6B"/>
                </a:solidFill>
                <a:latin typeface="Calibri"/>
              </a:defRPr>
            </a:pPr>
            <a:r>
              <a:t>Retail Orders Analysis  |  Gaurav Kalamkhede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 i="0">
                <a:solidFill>
                  <a:srgbClr val="2F4A6D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Turn a raw retail orders file into answers about products, months, regions and profit.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6B6B6B"/>
                </a:solidFill>
                <a:latin typeface="Calibri"/>
              </a:defRPr>
            </a:pPr>
            <a:r>
              <a:t>Data: Kaggle 'Retail Orders' - 9,994 order lines, United States, Jan 2022 to Dec 2023.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2F4A6D"/>
                </a:solidFill>
                <a:latin typeface="Calibri"/>
              </a:defRPr>
            </a:pPr>
            <a:r>
              <a:t>Flow from Ankit Bansal's tutorial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97480"/>
            <a:ext cx="3383280" cy="16002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697480"/>
            <a:ext cx="3383280" cy="64008"/>
          </a:xfrm>
          <a:prstGeom prst="rect">
            <a:avLst/>
          </a:prstGeom>
          <a:solidFill>
            <a:srgbClr val="2F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2926080"/>
            <a:ext cx="457200" cy="457200"/>
          </a:xfrm>
          <a:prstGeom prst="ellipse">
            <a:avLst/>
          </a:prstGeom>
          <a:solidFill>
            <a:srgbClr val="2F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92608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 i="0">
                <a:solidFill>
                  <a:srgbClr val="2F4A6D"/>
                </a:solidFill>
                <a:latin typeface="Calibri"/>
              </a:defRPr>
            </a:pPr>
            <a:r>
              <a:t>Clean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74720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333333"/>
                </a:solidFill>
                <a:latin typeface="Calibri"/>
              </a:defRPr>
            </a:pPr>
            <a:r>
              <a:t>Fix missing values, rename columns, derive discount, sale price and profit in pandas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005072" y="3360420"/>
            <a:ext cx="274320" cy="274320"/>
          </a:xfrm>
          <a:prstGeom prst="rightArrow">
            <a:avLst/>
          </a:prstGeom>
          <a:solidFill>
            <a:srgbClr val="D48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2697480"/>
            <a:ext cx="3383280" cy="16002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2697480"/>
            <a:ext cx="3383280" cy="64008"/>
          </a:xfrm>
          <a:prstGeom prst="rect">
            <a:avLst/>
          </a:prstGeom>
          <a:solidFill>
            <a:srgbClr val="2F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26280" y="2926080"/>
            <a:ext cx="457200" cy="457200"/>
          </a:xfrm>
          <a:prstGeom prst="ellipse">
            <a:avLst/>
          </a:prstGeom>
          <a:solidFill>
            <a:srgbClr val="2F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92608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 i="0">
                <a:solidFill>
                  <a:srgbClr val="2F4A6D"/>
                </a:solidFill>
                <a:latin typeface="Calibri"/>
              </a:defRPr>
            </a:pPr>
            <a:r>
              <a:t>Load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474720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333333"/>
                </a:solidFill>
                <a:latin typeface="Calibri"/>
              </a:defRPr>
            </a:pPr>
            <a:r>
              <a:t>Load the clean table into a SQLite database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799832" y="3360420"/>
            <a:ext cx="274320" cy="274320"/>
          </a:xfrm>
          <a:prstGeom prst="rightArrow">
            <a:avLst/>
          </a:prstGeom>
          <a:solidFill>
            <a:srgbClr val="D48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2697480"/>
            <a:ext cx="3383280" cy="16002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60" y="2697480"/>
            <a:ext cx="3383280" cy="64008"/>
          </a:xfrm>
          <a:prstGeom prst="rect">
            <a:avLst/>
          </a:prstGeom>
          <a:solidFill>
            <a:srgbClr val="2F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21040" y="2926080"/>
            <a:ext cx="457200" cy="457200"/>
          </a:xfrm>
          <a:prstGeom prst="ellipse">
            <a:avLst/>
          </a:prstGeom>
          <a:solidFill>
            <a:srgbClr val="2F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292608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 i="0">
                <a:solidFill>
                  <a:srgbClr val="2F4A6D"/>
                </a:solidFill>
                <a:latin typeface="Calibri"/>
              </a:defRPr>
            </a:pPr>
            <a:r>
              <a:t>Analyse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474720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333333"/>
                </a:solidFill>
                <a:latin typeface="Calibri"/>
              </a:defRPr>
            </a:pPr>
            <a:r>
              <a:t>Answer five business questions in 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5720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2F4A6D"/>
                </a:solidFill>
                <a:latin typeface="Calibri"/>
              </a:defRPr>
            </a:pPr>
            <a:r>
              <a:t>Added by 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983480"/>
            <a:ext cx="110944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000">
                <a:solidFill>
                  <a:srgbClr val="D4892A"/>
                </a:solidFill>
                <a:latin typeface="Calibri"/>
              </a:rPr>
              <a:t>■  </a:t>
            </a:r>
            <a:r>
              <a:rPr sz="1600" b="0">
                <a:solidFill>
                  <a:srgbClr val="333333"/>
                </a:solidFill>
                <a:latin typeface="Calibri"/>
              </a:rPr>
              <a:t>Six more SQL queries using window functions and CTEs</a:t>
            </a:r>
          </a:p>
          <a:p>
            <a:pPr>
              <a:spcAft>
                <a:spcPts val="900"/>
              </a:spcAft>
            </a:pPr>
            <a:r>
              <a:rPr sz="1000">
                <a:solidFill>
                  <a:srgbClr val="D4892A"/>
                </a:solidFill>
                <a:latin typeface="Calibri"/>
              </a:rPr>
              <a:t>■  </a:t>
            </a:r>
            <a:r>
              <a:rPr sz="1600" b="0">
                <a:solidFill>
                  <a:srgbClr val="333333"/>
                </a:solidFill>
                <a:latin typeface="Calibri"/>
              </a:rPr>
              <a:t>Charts, an Excel dashboard, this deck and a PDF report</a:t>
            </a:r>
          </a:p>
          <a:p>
            <a:pPr>
              <a:spcAft>
                <a:spcPts val="900"/>
              </a:spcAft>
            </a:pPr>
            <a:r>
              <a:rPr sz="1000">
                <a:solidFill>
                  <a:srgbClr val="D4892A"/>
                </a:solidFill>
                <a:latin typeface="Calibri"/>
              </a:rPr>
              <a:t>■  </a:t>
            </a:r>
            <a:r>
              <a:rPr sz="1600" b="0">
                <a:solidFill>
                  <a:srgbClr val="333333"/>
                </a:solidFill>
                <a:latin typeface="Calibri"/>
              </a:rPr>
              <a:t>A one-command pipeline (src/pipeline.py) and checks that SQL and pandas agree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2F4A6D"/>
                </a:solidFill>
                <a:latin typeface="Calibri"/>
              </a:defRPr>
            </a:pPr>
            <a:r>
              <a:t>Step 1: Cleaning the data with pandas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987552"/>
            <a:ext cx="1188720" cy="54864"/>
          </a:xfrm>
          <a:prstGeom prst="rect">
            <a:avLst/>
          </a:prstGeom>
          <a:solidFill>
            <a:srgbClr val="D48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D0D7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B6B6B"/>
                </a:solidFill>
                <a:latin typeface="Calibri"/>
              </a:defRPr>
            </a:pPr>
            <a:r>
              <a:t>Retail Orders Analysis  |  Gaurav Kalamkhede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 i="0">
                <a:solidFill>
                  <a:srgbClr val="2F4A6D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25880"/>
            <a:ext cx="4663440" cy="402336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64008" cy="4023360"/>
          </a:xfrm>
          <a:prstGeom prst="rect">
            <a:avLst/>
          </a:prstGeom>
          <a:solidFill>
            <a:srgbClr val="2F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08760"/>
            <a:ext cx="42976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000">
                <a:solidFill>
                  <a:srgbClr val="D4892A"/>
                </a:solidFill>
                <a:latin typeface="Calibri"/>
              </a:rPr>
              <a:t>■  </a:t>
            </a:r>
            <a:r>
              <a:rPr sz="1600" b="1">
                <a:solidFill>
                  <a:srgbClr val="2F4A6D"/>
                </a:solidFill>
                <a:latin typeface="Calibri"/>
              </a:rPr>
              <a:t>Missing values: </a:t>
            </a:r>
            <a:r>
              <a:rPr sz="1600" b="0">
                <a:solidFill>
                  <a:srgbClr val="333333"/>
                </a:solidFill>
                <a:latin typeface="Calibri"/>
              </a:rPr>
              <a:t>'Not Available' and 'unknown' read as NaN (6 ship modes).</a:t>
            </a:r>
          </a:p>
          <a:p>
            <a:pPr>
              <a:spcAft>
                <a:spcPts val="900"/>
              </a:spcAft>
            </a:pPr>
            <a:r>
              <a:rPr sz="1000">
                <a:solidFill>
                  <a:srgbClr val="D4892A"/>
                </a:solidFill>
                <a:latin typeface="Calibri"/>
              </a:rPr>
              <a:t>■  </a:t>
            </a:r>
            <a:r>
              <a:rPr sz="1600" b="1">
                <a:solidFill>
                  <a:srgbClr val="2F4A6D"/>
                </a:solidFill>
                <a:latin typeface="Calibri"/>
              </a:rPr>
              <a:t>Column names: </a:t>
            </a:r>
            <a:r>
              <a:rPr sz="1600" b="0">
                <a:solidFill>
                  <a:srgbClr val="333333"/>
                </a:solidFill>
                <a:latin typeface="Calibri"/>
              </a:rPr>
              <a:t>converted to snake_case for pandas and SQL.</a:t>
            </a:r>
          </a:p>
          <a:p>
            <a:pPr>
              <a:spcAft>
                <a:spcPts val="900"/>
              </a:spcAft>
            </a:pPr>
            <a:r>
              <a:rPr sz="1000">
                <a:solidFill>
                  <a:srgbClr val="D4892A"/>
                </a:solidFill>
                <a:latin typeface="Calibri"/>
              </a:rPr>
              <a:t>■  </a:t>
            </a:r>
            <a:r>
              <a:rPr sz="1600" b="1">
                <a:solidFill>
                  <a:srgbClr val="2F4A6D"/>
                </a:solidFill>
                <a:latin typeface="Calibri"/>
              </a:rPr>
              <a:t>New columns: </a:t>
            </a:r>
            <a:r>
              <a:rPr sz="1600" b="0">
                <a:solidFill>
                  <a:srgbClr val="333333"/>
                </a:solidFill>
                <a:latin typeface="Calibri"/>
              </a:rPr>
              <a:t>discount, sale_price and profit.</a:t>
            </a:r>
          </a:p>
          <a:p>
            <a:pPr>
              <a:spcAft>
                <a:spcPts val="900"/>
              </a:spcAft>
            </a:pPr>
            <a:r>
              <a:rPr sz="1000">
                <a:solidFill>
                  <a:srgbClr val="D4892A"/>
                </a:solidFill>
                <a:latin typeface="Calibri"/>
              </a:rPr>
              <a:t>■  </a:t>
            </a:r>
            <a:r>
              <a:rPr sz="1600" b="1">
                <a:solidFill>
                  <a:srgbClr val="2F4A6D"/>
                </a:solidFill>
                <a:latin typeface="Calibri"/>
              </a:rPr>
              <a:t>Dates: </a:t>
            </a:r>
            <a:r>
              <a:rPr sz="1600" b="0">
                <a:solidFill>
                  <a:srgbClr val="333333"/>
                </a:solidFill>
                <a:latin typeface="Calibri"/>
              </a:rPr>
              <a:t>order_date converted from text to a date.</a:t>
            </a:r>
          </a:p>
          <a:p>
            <a:pPr>
              <a:spcAft>
                <a:spcPts val="900"/>
              </a:spcAft>
            </a:pPr>
            <a:r>
              <a:rPr sz="1000">
                <a:solidFill>
                  <a:srgbClr val="D4892A"/>
                </a:solidFill>
                <a:latin typeface="Calibri"/>
              </a:rPr>
              <a:t>■  </a:t>
            </a:r>
            <a:r>
              <a:rPr sz="1600" b="1">
                <a:solidFill>
                  <a:srgbClr val="2F4A6D"/>
                </a:solidFill>
                <a:latin typeface="Calibri"/>
              </a:rPr>
              <a:t>Dropped: </a:t>
            </a:r>
            <a:r>
              <a:rPr sz="1600" b="0">
                <a:solidFill>
                  <a:srgbClr val="333333"/>
                </a:solidFill>
                <a:latin typeface="Calibri"/>
              </a:rPr>
              <a:t>list_price and cost_price (already captured).</a:t>
            </a:r>
          </a:p>
          <a:p>
            <a:pPr>
              <a:spcAft>
                <a:spcPts val="900"/>
              </a:spcAft>
            </a:pPr>
            <a:r>
              <a:rPr sz="1000">
                <a:solidFill>
                  <a:srgbClr val="D4892A"/>
                </a:solidFill>
                <a:latin typeface="Calibri"/>
              </a:rPr>
              <a:t>■  </a:t>
            </a:r>
            <a:r>
              <a:rPr sz="1600" b="1">
                <a:solidFill>
                  <a:srgbClr val="2F4A6D"/>
                </a:solidFill>
                <a:latin typeface="Calibri"/>
              </a:rPr>
              <a:t>Result: </a:t>
            </a:r>
            <a:r>
              <a:rPr sz="1600" b="0">
                <a:solidFill>
                  <a:srgbClr val="333333"/>
                </a:solidFill>
                <a:latin typeface="Calibri"/>
              </a:rPr>
              <a:t>9,994 rows, no duplicate orders, no rows lost.</a:t>
            </a:r>
          </a:p>
        </p:txBody>
      </p:sp>
      <p:pic>
        <p:nvPicPr>
          <p:cNvPr id="11" name="Picture 10" descr="nb_02_derive_colum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25880"/>
            <a:ext cx="6126480" cy="2305217"/>
          </a:xfrm>
          <a:prstGeom prst="rect">
            <a:avLst/>
          </a:prstGeom>
          <a:ln w="12700">
            <a:solidFill>
              <a:srgbClr val="D0D7E2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486400" y="3722537"/>
            <a:ext cx="6126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1">
                <a:solidFill>
                  <a:srgbClr val="6B6B6B"/>
                </a:solidFill>
                <a:latin typeface="Calibri"/>
              </a:defRPr>
            </a:pPr>
            <a:r>
              <a:t>Notebook: deriving discount, sale_price and profit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2F4A6D"/>
                </a:solidFill>
                <a:latin typeface="Calibri"/>
              </a:defRPr>
            </a:pPr>
            <a:r>
              <a:t>Checks after cleaning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987552"/>
            <a:ext cx="1188720" cy="54864"/>
          </a:xfrm>
          <a:prstGeom prst="rect">
            <a:avLst/>
          </a:prstGeom>
          <a:solidFill>
            <a:srgbClr val="D48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D0D7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B6B6B"/>
                </a:solidFill>
                <a:latin typeface="Calibri"/>
              </a:defRPr>
            </a:pPr>
            <a:r>
              <a:t>Retail Orders Analysis  |  Gaurav Kalamkhede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 i="0">
                <a:solidFill>
                  <a:srgbClr val="2F4A6D"/>
                </a:solidFill>
                <a:latin typeface="Calibri"/>
              </a:defRPr>
            </a:pPr>
            <a:r>
              <a:t>4</a:t>
            </a:r>
          </a:p>
        </p:txBody>
      </p:sp>
      <p:pic>
        <p:nvPicPr>
          <p:cNvPr id="8" name="Picture 7" descr="nb_03_cleaning_che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6766560" cy="3584137"/>
          </a:xfrm>
          <a:prstGeom prst="rect">
            <a:avLst/>
          </a:prstGeom>
          <a:ln w="12700">
            <a:solidFill>
              <a:srgbClr val="D0D7E2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48640" y="5001457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1">
                <a:solidFill>
                  <a:srgbClr val="6B6B6B"/>
                </a:solidFill>
                <a:latin typeface="Calibri"/>
              </a:defRPr>
            </a:pPr>
            <a:r>
              <a:t>Notebook: checks before and after cleaning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1325880"/>
            <a:ext cx="4023360" cy="32004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325880"/>
            <a:ext cx="64008" cy="3200400"/>
          </a:xfrm>
          <a:prstGeom prst="rect">
            <a:avLst/>
          </a:prstGeom>
          <a:solidFill>
            <a:srgbClr val="2F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1508760"/>
            <a:ext cx="3657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000">
                <a:solidFill>
                  <a:srgbClr val="D4892A"/>
                </a:solidFill>
                <a:latin typeface="Calibri"/>
              </a:rPr>
              <a:t>■  </a:t>
            </a:r>
            <a:r>
              <a:rPr sz="1600" b="0">
                <a:solidFill>
                  <a:srgbClr val="333333"/>
                </a:solidFill>
                <a:latin typeface="Calibri"/>
              </a:rPr>
              <a:t>No rows lost, every order_id unique.</a:t>
            </a:r>
          </a:p>
          <a:p>
            <a:pPr>
              <a:spcAft>
                <a:spcPts val="900"/>
              </a:spcAft>
            </a:pPr>
            <a:r>
              <a:rPr sz="1000">
                <a:solidFill>
                  <a:srgbClr val="D4892A"/>
                </a:solidFill>
                <a:latin typeface="Calibri"/>
              </a:rPr>
              <a:t>■  </a:t>
            </a:r>
            <a:r>
              <a:rPr sz="1600" b="0">
                <a:solidFill>
                  <a:srgbClr val="333333"/>
                </a:solidFill>
                <a:latin typeface="Calibri"/>
              </a:rPr>
              <a:t>507 lines have a price and cost of 0. They add nothing, so they are kept.</a:t>
            </a:r>
          </a:p>
          <a:p>
            <a:pPr>
              <a:spcAft>
                <a:spcPts val="900"/>
              </a:spcAft>
            </a:pPr>
            <a:r>
              <a:rPr sz="1000">
                <a:solidFill>
                  <a:srgbClr val="D4892A"/>
                </a:solidFill>
                <a:latin typeface="Calibri"/>
              </a:rPr>
              <a:t>■  </a:t>
            </a:r>
            <a:r>
              <a:rPr sz="1600" b="1">
                <a:solidFill>
                  <a:srgbClr val="2F4A6D"/>
                </a:solidFill>
                <a:latin typeface="Calibri"/>
              </a:rPr>
              <a:t>3,997 lines (40%) lose money.</a:t>
            </a:r>
            <a:r>
              <a:rPr sz="160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6B6B6B"/>
                </a:solidFill>
                <a:latin typeface="Calibri"/>
              </a:rPr>
              <a:t>      –  </a:t>
            </a:r>
            <a:r>
              <a:rPr sz="1400" b="0">
                <a:solidFill>
                  <a:srgbClr val="333333"/>
                </a:solidFill>
                <a:latin typeface="Calibri"/>
              </a:rPr>
              <a:t>3,955 have list price = cost, so any discount makes a loss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6B6B6B"/>
                </a:solidFill>
                <a:latin typeface="Calibri"/>
              </a:rPr>
              <a:t>      –  </a:t>
            </a:r>
            <a:r>
              <a:rPr sz="1400" b="0">
                <a:solidFill>
                  <a:srgbClr val="333333"/>
                </a:solidFill>
                <a:latin typeface="Calibri"/>
              </a:rPr>
              <a:t>Total loss is 3,151 (1.5% of profit)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2F4A6D"/>
                </a:solidFill>
                <a:latin typeface="Calibri"/>
              </a:defRPr>
            </a:pPr>
            <a:r>
              <a:t>Headline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987552"/>
            <a:ext cx="1188720" cy="54864"/>
          </a:xfrm>
          <a:prstGeom prst="rect">
            <a:avLst/>
          </a:prstGeom>
          <a:solidFill>
            <a:srgbClr val="D48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D0D7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B6B6B"/>
                </a:solidFill>
                <a:latin typeface="Calibri"/>
              </a:defRPr>
            </a:pPr>
            <a:r>
              <a:t>Retail Orders Analysis  |  Gaurav Kalamkhede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 i="0">
                <a:solidFill>
                  <a:srgbClr val="2F4A6D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25880"/>
            <a:ext cx="2636443" cy="128016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64008" cy="1280160"/>
          </a:xfrm>
          <a:prstGeom prst="rect">
            <a:avLst/>
          </a:prstGeom>
          <a:solidFill>
            <a:srgbClr val="2F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35608"/>
            <a:ext cx="2362123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 i="0">
                <a:solidFill>
                  <a:srgbClr val="2F4A6D"/>
                </a:solidFill>
                <a:latin typeface="Calibri"/>
              </a:defRPr>
            </a:pPr>
            <a:r>
              <a:t>2,215,859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68372"/>
            <a:ext cx="2362123" cy="486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6B6B6B"/>
                </a:solidFill>
                <a:latin typeface="Calibri"/>
              </a:defRPr>
            </a:pPr>
            <a:r>
              <a:t>Total sales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7963" y="1325880"/>
            <a:ext cx="2636443" cy="128016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7963" y="1325880"/>
            <a:ext cx="64008" cy="1280160"/>
          </a:xfrm>
          <a:prstGeom prst="rect">
            <a:avLst/>
          </a:prstGeom>
          <a:solidFill>
            <a:srgbClr val="2F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6563" y="1435608"/>
            <a:ext cx="2362123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 i="0">
                <a:solidFill>
                  <a:srgbClr val="2F4A6D"/>
                </a:solidFill>
                <a:latin typeface="Calibri"/>
              </a:defRPr>
            </a:pPr>
            <a:r>
              <a:t>205,169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6563" y="2068372"/>
            <a:ext cx="2362123" cy="486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6B6B6B"/>
                </a:solidFill>
                <a:latin typeface="Calibri"/>
              </a:defRPr>
            </a:pPr>
            <a:r>
              <a:t>Total profit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7287" y="1325880"/>
            <a:ext cx="2636443" cy="128016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7287" y="1325880"/>
            <a:ext cx="64008" cy="1280160"/>
          </a:xfrm>
          <a:prstGeom prst="rect">
            <a:avLst/>
          </a:prstGeom>
          <a:solidFill>
            <a:srgbClr val="2F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5887" y="1435608"/>
            <a:ext cx="2362123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 i="0">
                <a:solidFill>
                  <a:srgbClr val="2F4A6D"/>
                </a:solidFill>
                <a:latin typeface="Calibri"/>
              </a:defRPr>
            </a:pPr>
            <a:r>
              <a:t>9.26%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887" y="2068372"/>
            <a:ext cx="2362123" cy="486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6B6B6B"/>
                </a:solidFill>
                <a:latin typeface="Calibri"/>
              </a:defRPr>
            </a:pPr>
            <a:r>
              <a:t>Profit margin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611" y="1325880"/>
            <a:ext cx="2636443" cy="128016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06611" y="1325880"/>
            <a:ext cx="64008" cy="1280160"/>
          </a:xfrm>
          <a:prstGeom prst="rect">
            <a:avLst/>
          </a:prstGeom>
          <a:solidFill>
            <a:srgbClr val="2F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211" y="1435608"/>
            <a:ext cx="2362123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 i="0">
                <a:solidFill>
                  <a:srgbClr val="2F4A6D"/>
                </a:solidFill>
                <a:latin typeface="Calibri"/>
              </a:defRPr>
            </a:pPr>
            <a:r>
              <a:t>9,994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211" y="2068372"/>
            <a:ext cx="2362123" cy="486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6B6B6B"/>
                </a:solidFill>
                <a:latin typeface="Calibri"/>
              </a:defRPr>
            </a:pPr>
            <a:r>
              <a:t>Orders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788920"/>
            <a:ext cx="2636443" cy="128016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2788920"/>
            <a:ext cx="64008" cy="1280160"/>
          </a:xfrm>
          <a:prstGeom prst="rect">
            <a:avLst/>
          </a:prstGeom>
          <a:solidFill>
            <a:srgbClr val="2F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2898648"/>
            <a:ext cx="2362123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 i="0">
                <a:solidFill>
                  <a:srgbClr val="2F4A6D"/>
                </a:solidFill>
                <a:latin typeface="Calibri"/>
              </a:defRPr>
            </a:pPr>
            <a:r>
              <a:t>221.72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531412"/>
            <a:ext cx="2362123" cy="486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6B6B6B"/>
                </a:solidFill>
                <a:latin typeface="Calibri"/>
              </a:defRPr>
            </a:pPr>
            <a:r>
              <a:t>Average order value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67963" y="2788920"/>
            <a:ext cx="2636443" cy="128016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67963" y="2788920"/>
            <a:ext cx="64008" cy="1280160"/>
          </a:xfrm>
          <a:prstGeom prst="rect">
            <a:avLst/>
          </a:prstGeom>
          <a:solidFill>
            <a:srgbClr val="2F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96563" y="2898648"/>
            <a:ext cx="2362123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 i="0">
                <a:solidFill>
                  <a:srgbClr val="2F4A6D"/>
                </a:solidFill>
                <a:latin typeface="Calibri"/>
              </a:defRPr>
            </a:pPr>
            <a:r>
              <a:t>80,331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96563" y="3531412"/>
            <a:ext cx="2362123" cy="486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6B6B6B"/>
                </a:solidFill>
                <a:latin typeface="Calibri"/>
              </a:defRPr>
            </a:pPr>
            <a:r>
              <a:t>Total discount given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87287" y="2788920"/>
            <a:ext cx="2636443" cy="128016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87287" y="2788920"/>
            <a:ext cx="64008" cy="1280160"/>
          </a:xfrm>
          <a:prstGeom prst="rect">
            <a:avLst/>
          </a:prstGeom>
          <a:solidFill>
            <a:srgbClr val="2F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5887" y="2898648"/>
            <a:ext cx="2362123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 i="0">
                <a:solidFill>
                  <a:srgbClr val="2F4A6D"/>
                </a:solidFill>
                <a:latin typeface="Calibri"/>
              </a:defRPr>
            </a:pPr>
            <a:r>
              <a:t>+2.25%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5887" y="3531412"/>
            <a:ext cx="2362123" cy="486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6B6B6B"/>
                </a:solidFill>
                <a:latin typeface="Calibri"/>
              </a:defRPr>
            </a:pPr>
            <a:r>
              <a:t>Sales growth 2023 vs 2022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06611" y="2788920"/>
            <a:ext cx="2636443" cy="128016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06611" y="2788920"/>
            <a:ext cx="64008" cy="1280160"/>
          </a:xfrm>
          <a:prstGeom prst="rect">
            <a:avLst/>
          </a:prstGeom>
          <a:solidFill>
            <a:srgbClr val="2F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35211" y="2898648"/>
            <a:ext cx="2362123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 i="0">
                <a:solidFill>
                  <a:srgbClr val="2F4A6D"/>
                </a:solidFill>
                <a:latin typeface="Calibri"/>
              </a:defRPr>
            </a:pPr>
            <a:r>
              <a:t>+1.90%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211" y="3531412"/>
            <a:ext cx="2362123" cy="486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6B6B6B"/>
                </a:solidFill>
                <a:latin typeface="Calibri"/>
              </a:defRPr>
            </a:pPr>
            <a:r>
              <a:t>Profit growth 2023 vs 2022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343400"/>
            <a:ext cx="11094415" cy="173736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" y="4343400"/>
            <a:ext cx="64008" cy="1737360"/>
          </a:xfrm>
          <a:prstGeom prst="rect">
            <a:avLst/>
          </a:prstGeom>
          <a:solidFill>
            <a:srgbClr val="2F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4526280"/>
            <a:ext cx="107286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100">
                <a:solidFill>
                  <a:srgbClr val="D4892A"/>
                </a:solidFill>
                <a:latin typeface="Calibri"/>
              </a:rPr>
              <a:t>■  </a:t>
            </a:r>
            <a:r>
              <a:rPr sz="1700" b="0">
                <a:solidFill>
                  <a:srgbClr val="333333"/>
                </a:solidFill>
                <a:latin typeface="Calibri"/>
              </a:rPr>
              <a:t>Sales rose from 1,095,590 in 2022 to 1,120,268 in 2023.</a:t>
            </a:r>
          </a:p>
          <a:p>
            <a:pPr>
              <a:spcAft>
                <a:spcPts val="900"/>
              </a:spcAft>
            </a:pPr>
            <a:r>
              <a:rPr sz="1100">
                <a:solidFill>
                  <a:srgbClr val="D4892A"/>
                </a:solidFill>
                <a:latin typeface="Calibri"/>
              </a:rPr>
              <a:t>■  </a:t>
            </a:r>
            <a:r>
              <a:rPr sz="1700" b="0">
                <a:solidFill>
                  <a:srgbClr val="333333"/>
                </a:solidFill>
                <a:latin typeface="Calibri"/>
              </a:rPr>
              <a:t>Profit grew slightly slower than sales, so the margin dipped from 9.28% to 9.24%.</a:t>
            </a:r>
          </a:p>
          <a:p>
            <a:pPr>
              <a:spcAft>
                <a:spcPts val="900"/>
              </a:spcAft>
            </a:pPr>
            <a:r>
              <a:rPr sz="1100">
                <a:solidFill>
                  <a:srgbClr val="D4892A"/>
                </a:solidFill>
                <a:latin typeface="Calibri"/>
              </a:rPr>
              <a:t>■  </a:t>
            </a:r>
            <a:r>
              <a:rPr sz="1700" b="0">
                <a:solidFill>
                  <a:srgbClr val="333333"/>
                </a:solidFill>
                <a:latin typeface="Calibri"/>
              </a:rPr>
              <a:t>About 1 in every 11 dollars of sales is profit.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2F4A6D"/>
                </a:solidFill>
                <a:latin typeface="Calibri"/>
              </a:defRPr>
            </a:pPr>
            <a:r>
              <a:t>Q1. Top 10 products by revenue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987552"/>
            <a:ext cx="1188720" cy="54864"/>
          </a:xfrm>
          <a:prstGeom prst="rect">
            <a:avLst/>
          </a:prstGeom>
          <a:solidFill>
            <a:srgbClr val="D48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D0D7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B6B6B"/>
                </a:solidFill>
                <a:latin typeface="Calibri"/>
              </a:defRPr>
            </a:pPr>
            <a:r>
              <a:t>Retail Orders Analysis  |  Gaurav Kalamkhede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 i="0">
                <a:solidFill>
                  <a:srgbClr val="2F4A6D"/>
                </a:solidFill>
                <a:latin typeface="Calibri"/>
              </a:defRPr>
            </a:pPr>
            <a:r>
              <a:t>6</a:t>
            </a:r>
          </a:p>
        </p:txBody>
      </p:sp>
      <p:pic>
        <p:nvPicPr>
          <p:cNvPr id="8" name="Picture 7" descr="02_top10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7315200" cy="378492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046720" y="1508760"/>
            <a:ext cx="3611880" cy="265176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1508760"/>
            <a:ext cx="64008" cy="2651760"/>
          </a:xfrm>
          <a:prstGeom prst="rect">
            <a:avLst/>
          </a:prstGeom>
          <a:solidFill>
            <a:srgbClr val="2F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691640"/>
            <a:ext cx="3246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000">
                <a:solidFill>
                  <a:srgbClr val="D4892A"/>
                </a:solidFill>
                <a:latin typeface="Calibri"/>
              </a:rPr>
              <a:t>■  </a:t>
            </a:r>
            <a:r>
              <a:rPr sz="1600" b="1">
                <a:solidFill>
                  <a:srgbClr val="2F4A6D"/>
                </a:solidFill>
                <a:latin typeface="Calibri"/>
              </a:rPr>
              <a:t>TEC-CO-10004722</a:t>
            </a:r>
            <a:r>
              <a:rPr sz="1600" b="0">
                <a:solidFill>
                  <a:srgbClr val="333333"/>
                </a:solidFill>
                <a:latin typeface="Calibri"/>
              </a:rPr>
              <a:t> (a copier) earns 59,514, more than twice the second product.</a:t>
            </a:r>
          </a:p>
          <a:p>
            <a:pPr>
              <a:spcAft>
                <a:spcPts val="900"/>
              </a:spcAft>
            </a:pPr>
            <a:r>
              <a:rPr sz="1000">
                <a:solidFill>
                  <a:srgbClr val="D4892A"/>
                </a:solidFill>
                <a:latin typeface="Calibri"/>
              </a:rPr>
              <a:t>■  </a:t>
            </a:r>
            <a:r>
              <a:rPr sz="1600" b="0">
                <a:solidFill>
                  <a:srgbClr val="333333"/>
                </a:solidFill>
                <a:latin typeface="Calibri"/>
              </a:rPr>
              <a:t>It is 2.7% of all sales on its own.</a:t>
            </a:r>
          </a:p>
          <a:p>
            <a:pPr>
              <a:spcAft>
                <a:spcPts val="900"/>
              </a:spcAft>
            </a:pPr>
            <a:r>
              <a:rPr sz="1000">
                <a:solidFill>
                  <a:srgbClr val="D4892A"/>
                </a:solidFill>
                <a:latin typeface="Calibri"/>
              </a:rPr>
              <a:t>■  </a:t>
            </a:r>
            <a:r>
              <a:rPr sz="1600" b="0">
                <a:solidFill>
                  <a:srgbClr val="333333"/>
                </a:solidFill>
                <a:latin typeface="Calibri"/>
              </a:rPr>
              <a:t>Four of the top ten are binders; two are machines.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2F4A6D"/>
                </a:solidFill>
                <a:latin typeface="Calibri"/>
              </a:defRPr>
            </a:pPr>
            <a:r>
              <a:t>Q2 and Q4. Leaders by region and best month by category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987552"/>
            <a:ext cx="1188720" cy="54864"/>
          </a:xfrm>
          <a:prstGeom prst="rect">
            <a:avLst/>
          </a:prstGeom>
          <a:solidFill>
            <a:srgbClr val="D48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D0D7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B6B6B"/>
                </a:solidFill>
                <a:latin typeface="Calibri"/>
              </a:defRPr>
            </a:pPr>
            <a:r>
              <a:t>Retail Orders Analysis  |  Gaurav Kalamkhede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 i="0">
                <a:solidFill>
                  <a:srgbClr val="2F4A6D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2F4A6D"/>
                </a:solidFill>
                <a:latin typeface="Calibri"/>
              </a:defRPr>
            </a:pPr>
            <a:r>
              <a:t>Q2: No. 1 product in each region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783080"/>
          <a:ext cx="5120640" cy="17373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463040"/>
                <a:gridCol w="22860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Region</a:t>
                      </a:r>
                    </a:p>
                  </a:txBody>
                  <a:tcPr marL="91440" marR="91440" marT="27432" marB="27432" anchor="ctr">
                    <a:solidFill>
                      <a:srgbClr val="2F4A6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No. 1 product</a:t>
                      </a:r>
                    </a:p>
                  </a:txBody>
                  <a:tcPr marL="91440" marR="91440" marT="27432" marB="27432" anchor="ctr">
                    <a:solidFill>
                      <a:srgbClr val="2F4A6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Sales</a:t>
                      </a:r>
                    </a:p>
                  </a:txBody>
                  <a:tcPr marL="91440" marR="91440" marT="27432" marB="27432" anchor="ctr">
                    <a:solidFill>
                      <a:srgbClr val="2F4A6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Central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TEC-CO-10004722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16,975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East</a:t>
                      </a:r>
                    </a:p>
                  </a:txBody>
                  <a:tcPr marL="91440" marR="91440" marT="27432" marB="27432" anchor="ctr">
                    <a:solidFill>
                      <a:srgbClr val="EEF2F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TEC-CO-10004722</a:t>
                      </a:r>
                    </a:p>
                  </a:txBody>
                  <a:tcPr marL="91440" marR="91440" marT="27432" marB="27432" anchor="ctr">
                    <a:solidFill>
                      <a:srgbClr val="EEF2F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29,099</a:t>
                      </a:r>
                    </a:p>
                  </a:txBody>
                  <a:tcPr marL="91440" marR="91440" marT="27432" marB="27432" anchor="ctr">
                    <a:solidFill>
                      <a:srgbClr val="EEF2F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South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TEC-MA-10002412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21,734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West</a:t>
                      </a:r>
                    </a:p>
                  </a:txBody>
                  <a:tcPr marL="91440" marR="91440" marT="27432" marB="27432" anchor="ctr">
                    <a:solidFill>
                      <a:srgbClr val="EEF2F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TEC-CO-10004722</a:t>
                      </a:r>
                    </a:p>
                  </a:txBody>
                  <a:tcPr marL="91440" marR="91440" marT="27432" marB="27432" anchor="ctr">
                    <a:solidFill>
                      <a:srgbClr val="EEF2F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13,440</a:t>
                      </a:r>
                    </a:p>
                  </a:txBody>
                  <a:tcPr marL="91440" marR="91440" marT="27432" marB="27432" anchor="ctr">
                    <a:solidFill>
                      <a:srgbClr val="EEF2F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0" y="13258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2F4A6D"/>
                </a:solidFill>
                <a:latin typeface="Calibri"/>
              </a:defRPr>
            </a:pPr>
            <a:r>
              <a:t>Q4: Highest-sales month by category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0" y="1783080"/>
          <a:ext cx="5120640" cy="138988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94560"/>
                <a:gridCol w="155448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 marL="91440" marR="91440" marT="27432" marB="27432" anchor="ctr">
                    <a:solidFill>
                      <a:srgbClr val="2F4A6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Best month</a:t>
                      </a:r>
                    </a:p>
                  </a:txBody>
                  <a:tcPr marL="91440" marR="91440" marT="27432" marB="27432" anchor="ctr">
                    <a:solidFill>
                      <a:srgbClr val="2F4A6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Sales</a:t>
                      </a:r>
                    </a:p>
                  </a:txBody>
                  <a:tcPr marL="91440" marR="91440" marT="27432" marB="27432" anchor="ctr">
                    <a:solidFill>
                      <a:srgbClr val="2F4A6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Furniture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2022-10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42,889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Office Supplies</a:t>
                      </a:r>
                    </a:p>
                  </a:txBody>
                  <a:tcPr marL="91440" marR="91440" marT="27432" marB="27432" anchor="ctr">
                    <a:solidFill>
                      <a:srgbClr val="EEF2F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2023-02</a:t>
                      </a:r>
                    </a:p>
                  </a:txBody>
                  <a:tcPr marL="91440" marR="91440" marT="27432" marB="27432" anchor="ctr">
                    <a:solidFill>
                      <a:srgbClr val="EEF2F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44,118</a:t>
                      </a:r>
                    </a:p>
                  </a:txBody>
                  <a:tcPr marL="91440" marR="91440" marT="27432" marB="27432" anchor="ctr">
                    <a:solidFill>
                      <a:srgbClr val="EEF2F7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Technology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2023-10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53,000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48640" y="4206240"/>
            <a:ext cx="11094415" cy="141732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206240"/>
            <a:ext cx="64008" cy="1417320"/>
          </a:xfrm>
          <a:prstGeom prst="rect">
            <a:avLst/>
          </a:prstGeom>
          <a:solidFill>
            <a:srgbClr val="2F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389120"/>
            <a:ext cx="10728655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000">
                <a:solidFill>
                  <a:srgbClr val="D4892A"/>
                </a:solidFill>
                <a:latin typeface="Calibri"/>
              </a:rPr>
              <a:t>■  </a:t>
            </a:r>
            <a:r>
              <a:rPr sz="1600" b="0">
                <a:solidFill>
                  <a:srgbClr val="333333"/>
                </a:solidFill>
                <a:latin typeface="Calibri"/>
              </a:rPr>
              <a:t>The same copier leads three of the four regions. The South is led by a machine.</a:t>
            </a:r>
          </a:p>
          <a:p>
            <a:pPr>
              <a:spcAft>
                <a:spcPts val="900"/>
              </a:spcAft>
            </a:pPr>
            <a:r>
              <a:rPr sz="1000">
                <a:solidFill>
                  <a:srgbClr val="D4892A"/>
                </a:solidFill>
                <a:latin typeface="Calibri"/>
              </a:rPr>
              <a:t>■  </a:t>
            </a:r>
            <a:r>
              <a:rPr sz="1600" b="0">
                <a:solidFill>
                  <a:srgbClr val="333333"/>
                </a:solidFill>
                <a:latin typeface="Calibri"/>
              </a:rPr>
              <a:t>October appears twice: it is a strong month for Furniture and Technology.</a:t>
            </a:r>
          </a:p>
          <a:p>
            <a:pPr>
              <a:spcAft>
                <a:spcPts val="900"/>
              </a:spcAft>
            </a:pPr>
            <a:r>
              <a:rPr sz="1000">
                <a:solidFill>
                  <a:srgbClr val="D4892A"/>
                </a:solidFill>
                <a:latin typeface="Calibri"/>
              </a:rPr>
              <a:t>■  </a:t>
            </a:r>
            <a:r>
              <a:rPr sz="1600" b="0">
                <a:solidFill>
                  <a:srgbClr val="333333"/>
                </a:solidFill>
                <a:latin typeface="Calibri"/>
              </a:rPr>
              <a:t>Full top-5 lists for every region are in sql/analysis.sql (Q2).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2F4A6D"/>
                </a:solidFill>
                <a:latin typeface="Calibri"/>
              </a:defRPr>
            </a:pPr>
            <a:r>
              <a:t>Q3. Month-over-month sales, 2022 vs 2023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987552"/>
            <a:ext cx="1188720" cy="54864"/>
          </a:xfrm>
          <a:prstGeom prst="rect">
            <a:avLst/>
          </a:prstGeom>
          <a:solidFill>
            <a:srgbClr val="D48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D0D7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B6B6B"/>
                </a:solidFill>
                <a:latin typeface="Calibri"/>
              </a:defRPr>
            </a:pPr>
            <a:r>
              <a:t>Retail Orders Analysis  |  Gaurav Kalamkhede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 i="0">
                <a:solidFill>
                  <a:srgbClr val="2F4A6D"/>
                </a:solidFill>
                <a:latin typeface="Calibri"/>
              </a:defRPr>
            </a:pPr>
            <a:r>
              <a:t>8</a:t>
            </a:r>
          </a:p>
        </p:txBody>
      </p:sp>
      <p:pic>
        <p:nvPicPr>
          <p:cNvPr id="8" name="Picture 7" descr="01_monthly_sales_2022_vs_2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7589520" cy="378171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321040" y="1508760"/>
            <a:ext cx="3337560" cy="301752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21040" y="1508760"/>
            <a:ext cx="64008" cy="3017520"/>
          </a:xfrm>
          <a:prstGeom prst="rect">
            <a:avLst/>
          </a:prstGeom>
          <a:solidFill>
            <a:srgbClr val="2F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1691640"/>
            <a:ext cx="2971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000">
                <a:solidFill>
                  <a:srgbClr val="D4892A"/>
                </a:solidFill>
                <a:latin typeface="Calibri"/>
              </a:rPr>
              <a:t>■  </a:t>
            </a:r>
            <a:r>
              <a:rPr sz="1600" b="0">
                <a:solidFill>
                  <a:srgbClr val="333333"/>
                </a:solidFill>
                <a:latin typeface="Calibri"/>
              </a:rPr>
              <a:t>2023 beat 2022 in 7 of 12 months.</a:t>
            </a:r>
          </a:p>
          <a:p>
            <a:pPr>
              <a:spcAft>
                <a:spcPts val="900"/>
              </a:spcAft>
            </a:pPr>
            <a:r>
              <a:rPr sz="1000">
                <a:solidFill>
                  <a:srgbClr val="D4892A"/>
                </a:solidFill>
                <a:latin typeface="Calibri"/>
              </a:rPr>
              <a:t>■  </a:t>
            </a:r>
            <a:r>
              <a:rPr sz="1600" b="1">
                <a:solidFill>
                  <a:srgbClr val="2F4A6D"/>
                </a:solidFill>
                <a:latin typeface="Calibri"/>
              </a:rPr>
              <a:t>Biggest gains: </a:t>
            </a:r>
            <a:r>
              <a:rPr sz="1600" b="0">
                <a:solidFill>
                  <a:srgbClr val="333333"/>
                </a:solidFill>
                <a:latin typeface="Calibri"/>
              </a:rPr>
              <a:t>February (+42%) and April (+17%).</a:t>
            </a:r>
          </a:p>
          <a:p>
            <a:pPr>
              <a:spcAft>
                <a:spcPts val="900"/>
              </a:spcAft>
            </a:pPr>
            <a:r>
              <a:rPr sz="1000">
                <a:solidFill>
                  <a:srgbClr val="D4892A"/>
                </a:solidFill>
                <a:latin typeface="Calibri"/>
              </a:rPr>
              <a:t>■  </a:t>
            </a:r>
            <a:r>
              <a:rPr sz="1600" b="1">
                <a:solidFill>
                  <a:srgbClr val="2F4A6D"/>
                </a:solidFill>
                <a:latin typeface="Calibri"/>
              </a:rPr>
              <a:t>Biggest falls: </a:t>
            </a:r>
            <a:r>
              <a:rPr sz="1600" b="0">
                <a:solidFill>
                  <a:srgbClr val="333333"/>
                </a:solidFill>
                <a:latin typeface="Calibri"/>
              </a:rPr>
              <a:t>June (-27%) and August (-16%).</a:t>
            </a:r>
          </a:p>
          <a:p>
            <a:pPr>
              <a:spcAft>
                <a:spcPts val="900"/>
              </a:spcAft>
            </a:pPr>
            <a:r>
              <a:rPr sz="1000">
                <a:solidFill>
                  <a:srgbClr val="D4892A"/>
                </a:solidFill>
                <a:latin typeface="Calibri"/>
              </a:rPr>
              <a:t>■  </a:t>
            </a:r>
            <a:r>
              <a:rPr sz="1600" b="0">
                <a:solidFill>
                  <a:srgbClr val="333333"/>
                </a:solidFill>
                <a:latin typeface="Calibri"/>
              </a:rPr>
              <a:t>October was a top-two month in both years.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2F4A6D"/>
                </a:solidFill>
                <a:latin typeface="Calibri"/>
              </a:defRPr>
            </a:pPr>
            <a:r>
              <a:t>Q5. Which sub-category grew profit the most?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987552"/>
            <a:ext cx="1188720" cy="54864"/>
          </a:xfrm>
          <a:prstGeom prst="rect">
            <a:avLst/>
          </a:prstGeom>
          <a:solidFill>
            <a:srgbClr val="D48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D0D7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B6B6B"/>
                </a:solidFill>
                <a:latin typeface="Calibri"/>
              </a:defRPr>
            </a:pPr>
            <a:r>
              <a:t>Retail Orders Analysis  |  Gaurav Kalamkhede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 i="0">
                <a:solidFill>
                  <a:srgbClr val="2F4A6D"/>
                </a:solidFill>
                <a:latin typeface="Calibri"/>
              </a:defRPr>
            </a:pPr>
            <a:r>
              <a:t>9</a:t>
            </a:r>
          </a:p>
        </p:txBody>
      </p:sp>
      <p:pic>
        <p:nvPicPr>
          <p:cNvPr id="8" name="Picture 7" descr="03_subcategory_profit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6949439" cy="433686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72400" y="1508760"/>
            <a:ext cx="3886200" cy="301752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0" y="1508760"/>
            <a:ext cx="64008" cy="3017520"/>
          </a:xfrm>
          <a:prstGeom prst="rect">
            <a:avLst/>
          </a:prstGeom>
          <a:solidFill>
            <a:srgbClr val="2F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1691640"/>
            <a:ext cx="3520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000">
                <a:solidFill>
                  <a:srgbClr val="D4892A"/>
                </a:solidFill>
                <a:latin typeface="Calibri"/>
              </a:rPr>
              <a:t>■  </a:t>
            </a:r>
            <a:r>
              <a:rPr sz="1600" b="1">
                <a:solidFill>
                  <a:srgbClr val="2F4A6D"/>
                </a:solidFill>
                <a:latin typeface="Calibri"/>
              </a:rPr>
              <a:t>Machines: </a:t>
            </a:r>
            <a:r>
              <a:rPr sz="1600" b="0">
                <a:solidFill>
                  <a:srgbClr val="333333"/>
                </a:solidFill>
                <a:latin typeface="Calibri"/>
              </a:rPr>
              <a:t>profit up from 7,243 to 10,878 (+50%).</a:t>
            </a:r>
          </a:p>
          <a:p>
            <a:pPr>
              <a:spcAft>
                <a:spcPts val="900"/>
              </a:spcAft>
            </a:pPr>
            <a:r>
              <a:rPr sz="1000">
                <a:solidFill>
                  <a:srgbClr val="D4892A"/>
                </a:solidFill>
                <a:latin typeface="Calibri"/>
              </a:rPr>
              <a:t>■  </a:t>
            </a:r>
            <a:r>
              <a:rPr sz="1600" b="0">
                <a:solidFill>
                  <a:srgbClr val="333333"/>
                </a:solidFill>
                <a:latin typeface="Calibri"/>
              </a:rPr>
              <a:t>Phones, Binders and Storage also grew strongly.</a:t>
            </a:r>
          </a:p>
          <a:p>
            <a:pPr>
              <a:spcAft>
                <a:spcPts val="900"/>
              </a:spcAft>
            </a:pPr>
            <a:r>
              <a:rPr sz="1000">
                <a:solidFill>
                  <a:srgbClr val="D4892A"/>
                </a:solidFill>
                <a:latin typeface="Calibri"/>
              </a:rPr>
              <a:t>■  </a:t>
            </a:r>
            <a:r>
              <a:rPr sz="1600" b="0">
                <a:solidFill>
                  <a:srgbClr val="333333"/>
                </a:solidFill>
                <a:latin typeface="Calibri"/>
              </a:rPr>
              <a:t>Copiers, Appliances and Tables lost the most, about 7.6k together.</a:t>
            </a:r>
          </a:p>
          <a:p>
            <a:pPr>
              <a:spcAft>
                <a:spcPts val="900"/>
              </a:spcAft>
            </a:pPr>
            <a:r>
              <a:rPr sz="1000">
                <a:solidFill>
                  <a:srgbClr val="D4892A"/>
                </a:solidFill>
                <a:latin typeface="Calibri"/>
              </a:rPr>
              <a:t>■  </a:t>
            </a:r>
            <a:r>
              <a:rPr sz="1600" b="0">
                <a:solidFill>
                  <a:srgbClr val="333333"/>
                </a:solidFill>
                <a:latin typeface="Calibri"/>
              </a:rPr>
              <a:t>9 sub-categories grew, 8 declined.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2F4A6D"/>
                </a:solidFill>
                <a:latin typeface="Calibri"/>
              </a:defRPr>
            </a:pPr>
            <a:r>
              <a:t>Step 2: SQL in SQLite - techniques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987552"/>
            <a:ext cx="1188720" cy="54864"/>
          </a:xfrm>
          <a:prstGeom prst="rect">
            <a:avLst/>
          </a:prstGeom>
          <a:solidFill>
            <a:srgbClr val="D48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D0D7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B6B6B"/>
                </a:solidFill>
                <a:latin typeface="Calibri"/>
              </a:defRPr>
            </a:pPr>
            <a:r>
              <a:t>Retail Orders Analysis  |  Gaurav Kalamkhede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 i="0">
                <a:solidFill>
                  <a:srgbClr val="2F4A6D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25880"/>
            <a:ext cx="5029200" cy="356616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64008" cy="3566160"/>
          </a:xfrm>
          <a:prstGeom prst="rect">
            <a:avLst/>
          </a:prstGeom>
          <a:solidFill>
            <a:srgbClr val="2F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0876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000">
                <a:solidFill>
                  <a:srgbClr val="D4892A"/>
                </a:solidFill>
                <a:latin typeface="Calibri"/>
              </a:rPr>
              <a:t>■  </a:t>
            </a:r>
            <a:r>
              <a:rPr sz="1600" b="1">
                <a:solidFill>
                  <a:srgbClr val="2F4A6D"/>
                </a:solidFill>
                <a:latin typeface="Calibri"/>
              </a:rPr>
              <a:t>CTEs (WITH) </a:t>
            </a:r>
            <a:r>
              <a:rPr sz="1600" b="0">
                <a:solidFill>
                  <a:srgbClr val="333333"/>
                </a:solidFill>
                <a:latin typeface="Calibri"/>
              </a:rPr>
              <a:t>to break queries into steps</a:t>
            </a:r>
          </a:p>
          <a:p>
            <a:pPr>
              <a:spcAft>
                <a:spcPts val="900"/>
              </a:spcAft>
            </a:pPr>
            <a:r>
              <a:rPr sz="1000">
                <a:solidFill>
                  <a:srgbClr val="D4892A"/>
                </a:solidFill>
                <a:latin typeface="Calibri"/>
              </a:rPr>
              <a:t>■  </a:t>
            </a:r>
            <a:r>
              <a:rPr sz="1600" b="1">
                <a:solidFill>
                  <a:srgbClr val="2F4A6D"/>
                </a:solidFill>
                <a:latin typeface="Calibri"/>
              </a:rPr>
              <a:t>ROW_NUMBER, RANK, DENSE_RANK </a:t>
            </a:r>
            <a:r>
              <a:rPr sz="1600" b="0">
                <a:solidFill>
                  <a:srgbClr val="333333"/>
                </a:solidFill>
                <a:latin typeface="Calibri"/>
              </a:rPr>
              <a:t>for top-N per group</a:t>
            </a:r>
          </a:p>
          <a:p>
            <a:pPr>
              <a:spcAft>
                <a:spcPts val="900"/>
              </a:spcAft>
            </a:pPr>
            <a:r>
              <a:rPr sz="1000">
                <a:solidFill>
                  <a:srgbClr val="D4892A"/>
                </a:solidFill>
                <a:latin typeface="Calibri"/>
              </a:rPr>
              <a:t>■  </a:t>
            </a:r>
            <a:r>
              <a:rPr sz="1600" b="1">
                <a:solidFill>
                  <a:srgbClr val="2F4A6D"/>
                </a:solidFill>
                <a:latin typeface="Calibri"/>
              </a:rPr>
              <a:t>SUM() OVER (PARTITION BY ... ORDER BY ...) </a:t>
            </a:r>
            <a:r>
              <a:rPr sz="1600" b="0">
                <a:solidFill>
                  <a:srgbClr val="333333"/>
                </a:solidFill>
                <a:latin typeface="Calibri"/>
              </a:rPr>
              <a:t>for running totals</a:t>
            </a:r>
          </a:p>
          <a:p>
            <a:pPr>
              <a:spcAft>
                <a:spcPts val="900"/>
              </a:spcAft>
            </a:pPr>
            <a:r>
              <a:rPr sz="1000">
                <a:solidFill>
                  <a:srgbClr val="D4892A"/>
                </a:solidFill>
                <a:latin typeface="Calibri"/>
              </a:rPr>
              <a:t>■  </a:t>
            </a:r>
            <a:r>
              <a:rPr sz="1600" b="1">
                <a:solidFill>
                  <a:srgbClr val="2F4A6D"/>
                </a:solidFill>
                <a:latin typeface="Calibri"/>
              </a:rPr>
              <a:t>SUM(SUM(x)) OVER () </a:t>
            </a:r>
            <a:r>
              <a:rPr sz="1600" b="0">
                <a:solidFill>
                  <a:srgbClr val="333333"/>
                </a:solidFill>
                <a:latin typeface="Calibri"/>
              </a:rPr>
              <a:t>for share of total</a:t>
            </a:r>
          </a:p>
          <a:p>
            <a:pPr>
              <a:spcAft>
                <a:spcPts val="900"/>
              </a:spcAft>
            </a:pPr>
            <a:r>
              <a:rPr sz="1000">
                <a:solidFill>
                  <a:srgbClr val="D4892A"/>
                </a:solidFill>
                <a:latin typeface="Calibri"/>
              </a:rPr>
              <a:t>■  </a:t>
            </a:r>
            <a:r>
              <a:rPr sz="1600" b="1">
                <a:solidFill>
                  <a:srgbClr val="2F4A6D"/>
                </a:solidFill>
                <a:latin typeface="Calibri"/>
              </a:rPr>
              <a:t>CASE WHEN </a:t>
            </a:r>
            <a:r>
              <a:rPr sz="1600" b="0">
                <a:solidFill>
                  <a:srgbClr val="333333"/>
                </a:solidFill>
                <a:latin typeface="Calibri"/>
              </a:rPr>
              <a:t>to pivot 2022 and 2023 into columns</a:t>
            </a:r>
          </a:p>
          <a:p>
            <a:pPr>
              <a:spcAft>
                <a:spcPts val="900"/>
              </a:spcAft>
            </a:pPr>
            <a:r>
              <a:rPr sz="1000">
                <a:solidFill>
                  <a:srgbClr val="D4892A"/>
                </a:solidFill>
                <a:latin typeface="Calibri"/>
              </a:rPr>
              <a:t>■  </a:t>
            </a:r>
            <a:r>
              <a:rPr sz="1600" b="1">
                <a:solidFill>
                  <a:srgbClr val="2F4A6D"/>
                </a:solidFill>
                <a:latin typeface="Calibri"/>
              </a:rPr>
              <a:t>strftime() </a:t>
            </a:r>
            <a:r>
              <a:rPr sz="1600" b="0">
                <a:solidFill>
                  <a:srgbClr val="333333"/>
                </a:solidFill>
                <a:latin typeface="Calibri"/>
              </a:rPr>
              <a:t>for year and month in SQLite</a:t>
            </a:r>
          </a:p>
        </p:txBody>
      </p:sp>
      <p:pic>
        <p:nvPicPr>
          <p:cNvPr id="11" name="Picture 10" descr="nb_07_sql_q9_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325880"/>
            <a:ext cx="5760720" cy="2112466"/>
          </a:xfrm>
          <a:prstGeom prst="rect">
            <a:avLst/>
          </a:prstGeom>
          <a:ln w="12700">
            <a:solidFill>
              <a:srgbClr val="D0D7E2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852160" y="3529786"/>
            <a:ext cx="5760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1">
                <a:solidFill>
                  <a:srgbClr val="6B6B6B"/>
                </a:solidFill>
                <a:latin typeface="Calibri"/>
              </a:defRPr>
            </a:pPr>
            <a:r>
              <a:t>Notebook: Q9 regional profitability query result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2F4A6D"/>
                </a:solidFill>
                <a:latin typeface="Calibri"/>
              </a:defRPr>
            </a:pPr>
            <a:r>
              <a:t>Categories and regions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987552"/>
            <a:ext cx="1188720" cy="54864"/>
          </a:xfrm>
          <a:prstGeom prst="rect">
            <a:avLst/>
          </a:prstGeom>
          <a:solidFill>
            <a:srgbClr val="D48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D0D7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B6B6B"/>
                </a:solidFill>
                <a:latin typeface="Calibri"/>
              </a:defRPr>
            </a:pPr>
            <a:r>
              <a:t>Retail Orders Analysis  |  Gaurav Kalamkhede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 i="0">
                <a:solidFill>
                  <a:srgbClr val="2F4A6D"/>
                </a:solidFill>
                <a:latin typeface="Calibri"/>
              </a:defRPr>
            </a:pPr>
            <a:r>
              <a:t>11</a:t>
            </a:r>
          </a:p>
        </p:txBody>
      </p:sp>
      <p:pic>
        <p:nvPicPr>
          <p:cNvPr id="8" name="Picture 7" descr="04_category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5364327" cy="3068353"/>
          </a:xfrm>
          <a:prstGeom prst="rect">
            <a:avLst/>
          </a:prstGeom>
        </p:spPr>
      </p:pic>
      <p:pic>
        <p:nvPicPr>
          <p:cNvPr id="9" name="Picture 8" descr="05_region_mar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1325880"/>
            <a:ext cx="5364327" cy="262553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4617720"/>
            <a:ext cx="11094415" cy="16002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617720"/>
            <a:ext cx="64008" cy="1600200"/>
          </a:xfrm>
          <a:prstGeom prst="rect">
            <a:avLst/>
          </a:prstGeom>
          <a:solidFill>
            <a:srgbClr val="2F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800600"/>
            <a:ext cx="1072865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900">
                <a:solidFill>
                  <a:srgbClr val="D4892A"/>
                </a:solidFill>
                <a:latin typeface="Calibri"/>
              </a:rPr>
              <a:t>■  </a:t>
            </a:r>
            <a:r>
              <a:rPr sz="1500" b="0">
                <a:solidFill>
                  <a:srgbClr val="333333"/>
                </a:solidFill>
                <a:latin typeface="Calibri"/>
              </a:rPr>
              <a:t>Technology is the largest category (36% of sales, 37% of profit). Margins are similar across categories.</a:t>
            </a:r>
          </a:p>
          <a:p>
            <a:pPr>
              <a:spcAft>
                <a:spcPts val="900"/>
              </a:spcAft>
            </a:pPr>
            <a:r>
              <a:rPr sz="900">
                <a:solidFill>
                  <a:srgbClr val="D4892A"/>
                </a:solidFill>
                <a:latin typeface="Calibri"/>
              </a:rPr>
              <a:t>■  </a:t>
            </a:r>
            <a:r>
              <a:rPr sz="1500" b="0">
                <a:solidFill>
                  <a:srgbClr val="333333"/>
                </a:solidFill>
                <a:latin typeface="Calibri"/>
              </a:rPr>
              <a:t>South has the best margin (10.06%) but the lowest sales.</a:t>
            </a:r>
          </a:p>
          <a:p>
            <a:pPr>
              <a:spcAft>
                <a:spcPts val="900"/>
              </a:spcAft>
            </a:pPr>
            <a:r>
              <a:rPr sz="900">
                <a:solidFill>
                  <a:srgbClr val="D4892A"/>
                </a:solidFill>
                <a:latin typeface="Calibri"/>
              </a:rPr>
              <a:t>■  </a:t>
            </a:r>
            <a:r>
              <a:rPr sz="1500" b="0">
                <a:solidFill>
                  <a:srgbClr val="333333"/>
                </a:solidFill>
                <a:latin typeface="Calibri"/>
              </a:rPr>
              <a:t>West sells the most, but its sales fell 11.2% in 2023 while the other regions grew.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2F4A6D"/>
                </a:solidFill>
                <a:latin typeface="Calibri"/>
              </a:defRPr>
            </a:pPr>
            <a:r>
              <a:t>Discounts reduce margin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987552"/>
            <a:ext cx="1188720" cy="54864"/>
          </a:xfrm>
          <a:prstGeom prst="rect">
            <a:avLst/>
          </a:prstGeom>
          <a:solidFill>
            <a:srgbClr val="D48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D0D7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B6B6B"/>
                </a:solidFill>
                <a:latin typeface="Calibri"/>
              </a:defRPr>
            </a:pPr>
            <a:r>
              <a:t>Retail Orders Analysis  |  Gaurav Kalamkhede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 i="0">
                <a:solidFill>
                  <a:srgbClr val="2F4A6D"/>
                </a:solidFill>
                <a:latin typeface="Calibri"/>
              </a:defRPr>
            </a:pPr>
            <a:r>
              <a:t>12</a:t>
            </a:r>
          </a:p>
        </p:txBody>
      </p:sp>
      <p:pic>
        <p:nvPicPr>
          <p:cNvPr id="8" name="Picture 7" descr="06_discount_vs_mar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6949440" cy="374816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72400" y="1508760"/>
            <a:ext cx="3886200" cy="329184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0" y="1508760"/>
            <a:ext cx="64008" cy="3291840"/>
          </a:xfrm>
          <a:prstGeom prst="rect">
            <a:avLst/>
          </a:prstGeom>
          <a:solidFill>
            <a:srgbClr val="2F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1691640"/>
            <a:ext cx="3520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000">
                <a:solidFill>
                  <a:srgbClr val="D4892A"/>
                </a:solidFill>
                <a:latin typeface="Calibri"/>
              </a:rPr>
              <a:t>■  </a:t>
            </a:r>
            <a:r>
              <a:rPr sz="1600" b="0">
                <a:solidFill>
                  <a:srgbClr val="333333"/>
                </a:solidFill>
                <a:latin typeface="Calibri"/>
              </a:rPr>
              <a:t>Margin falls from 10.54% at a 2% discount to 7.63% at 5%.</a:t>
            </a:r>
          </a:p>
          <a:p>
            <a:pPr>
              <a:spcAft>
                <a:spcPts val="900"/>
              </a:spcAft>
            </a:pPr>
            <a:r>
              <a:rPr sz="1000">
                <a:solidFill>
                  <a:srgbClr val="D4892A"/>
                </a:solidFill>
                <a:latin typeface="Calibri"/>
              </a:rPr>
              <a:t>■  </a:t>
            </a:r>
            <a:r>
              <a:rPr sz="1600" b="0">
                <a:solidFill>
                  <a:srgbClr val="333333"/>
                </a:solidFill>
                <a:latin typeface="Calibri"/>
              </a:rPr>
              <a:t>Each discount level has about 2,500 lines, so this is not a few large orders.</a:t>
            </a:r>
          </a:p>
          <a:p>
            <a:pPr>
              <a:spcAft>
                <a:spcPts val="900"/>
              </a:spcAft>
            </a:pPr>
            <a:r>
              <a:rPr sz="1000">
                <a:solidFill>
                  <a:srgbClr val="D4892A"/>
                </a:solidFill>
                <a:latin typeface="Calibri"/>
              </a:rPr>
              <a:t>■  </a:t>
            </a:r>
            <a:r>
              <a:rPr sz="1600" b="0">
                <a:solidFill>
                  <a:srgbClr val="333333"/>
                </a:solidFill>
                <a:latin typeface="Calibri"/>
              </a:rPr>
              <a:t>The 4% and 5% levels gave 51,404 of discount.</a:t>
            </a:r>
          </a:p>
          <a:p>
            <a:pPr>
              <a:spcAft>
                <a:spcPts val="900"/>
              </a:spcAft>
            </a:pPr>
            <a:r>
              <a:rPr sz="1000">
                <a:solidFill>
                  <a:srgbClr val="D4892A"/>
                </a:solidFill>
                <a:latin typeface="Calibri"/>
              </a:rPr>
              <a:t>■  </a:t>
            </a:r>
            <a:r>
              <a:rPr sz="1600" b="0">
                <a:solidFill>
                  <a:srgbClr val="333333"/>
                </a:solidFill>
                <a:latin typeface="Calibri"/>
              </a:rPr>
              <a:t>Items with no markup still get discounts and make a loss.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2F4A6D"/>
                </a:solidFill>
                <a:latin typeface="Calibri"/>
              </a:defRPr>
            </a:pPr>
            <a:r>
              <a:t>Excel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987552"/>
            <a:ext cx="1188720" cy="54864"/>
          </a:xfrm>
          <a:prstGeom prst="rect">
            <a:avLst/>
          </a:prstGeom>
          <a:solidFill>
            <a:srgbClr val="D48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D0D7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B6B6B"/>
                </a:solidFill>
                <a:latin typeface="Calibri"/>
              </a:defRPr>
            </a:pPr>
            <a:r>
              <a:t>Retail Orders Analysis  |  Gaurav Kalamkhede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 i="0">
                <a:solidFill>
                  <a:srgbClr val="2F4A6D"/>
                </a:solidFill>
                <a:latin typeface="Calibri"/>
              </a:defRPr>
            </a:pPr>
            <a:r>
              <a:t>13</a:t>
            </a:r>
          </a:p>
        </p:txBody>
      </p:sp>
      <p:pic>
        <p:nvPicPr>
          <p:cNvPr id="8" name="Picture 7" descr="excel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0824" y="1325880"/>
            <a:ext cx="5230047" cy="4572000"/>
          </a:xfrm>
          <a:prstGeom prst="rect">
            <a:avLst/>
          </a:prstGeom>
          <a:ln w="12700">
            <a:solidFill>
              <a:srgbClr val="D0D7E2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3480824" y="5971032"/>
            <a:ext cx="110944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1">
                <a:solidFill>
                  <a:srgbClr val="6B6B6B"/>
                </a:solidFill>
                <a:latin typeface="Calibri"/>
              </a:defRPr>
            </a:pPr>
            <a:r>
              <a:t>excel/Retail_Orders_Dashboard.xlsx - KPI cells, native Excel charts, and data sheets with conditional formatting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2F4A6D"/>
                </a:solidFill>
                <a:latin typeface="Calibri"/>
              </a:defRPr>
            </a:pPr>
            <a:r>
              <a:t>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987552"/>
            <a:ext cx="1188720" cy="54864"/>
          </a:xfrm>
          <a:prstGeom prst="rect">
            <a:avLst/>
          </a:prstGeom>
          <a:solidFill>
            <a:srgbClr val="D48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D0D7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B6B6B"/>
                </a:solidFill>
                <a:latin typeface="Calibri"/>
              </a:defRPr>
            </a:pPr>
            <a:r>
              <a:t>Retail Orders Analysis  |  Gaurav Kalamkhede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 i="0">
                <a:solidFill>
                  <a:srgbClr val="2F4A6D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25880"/>
            <a:ext cx="5364327" cy="146304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2F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554480"/>
            <a:ext cx="41756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 i="0">
                <a:solidFill>
                  <a:srgbClr val="2F4A6D"/>
                </a:solidFill>
                <a:latin typeface="Calibri"/>
              </a:defRPr>
            </a:pPr>
            <a:r>
              <a:t>Stop discounting items sold at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11680"/>
            <a:ext cx="417560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 i="0">
                <a:solidFill>
                  <a:srgbClr val="333333"/>
                </a:solidFill>
                <a:latin typeface="Calibri"/>
              </a:defRPr>
            </a:pPr>
            <a:r>
              <a:t>This removes almost all loss-making lines.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8727" y="1325880"/>
            <a:ext cx="5364327" cy="146304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07327" y="1600200"/>
            <a:ext cx="548640" cy="548640"/>
          </a:xfrm>
          <a:prstGeom prst="ellipse">
            <a:avLst/>
          </a:prstGeom>
          <a:solidFill>
            <a:srgbClr val="2F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84567" y="1554480"/>
            <a:ext cx="41756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 i="0">
                <a:solidFill>
                  <a:srgbClr val="2F4A6D"/>
                </a:solidFill>
                <a:latin typeface="Calibri"/>
              </a:defRPr>
            </a:pPr>
            <a:r>
              <a:t>Review the 4-5% discount levels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4567" y="2011680"/>
            <a:ext cx="417560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 i="0">
                <a:solidFill>
                  <a:srgbClr val="333333"/>
                </a:solidFill>
                <a:latin typeface="Calibri"/>
              </a:defRPr>
            </a:pPr>
            <a:r>
              <a:t>They cost about 51k and give the lowest margins.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926080"/>
            <a:ext cx="5364327" cy="146304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3200400"/>
            <a:ext cx="548640" cy="548640"/>
          </a:xfrm>
          <a:prstGeom prst="ellipse">
            <a:avLst/>
          </a:prstGeom>
          <a:solidFill>
            <a:srgbClr val="2F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154680"/>
            <a:ext cx="41756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 i="0">
                <a:solidFill>
                  <a:srgbClr val="2F4A6D"/>
                </a:solidFill>
                <a:latin typeface="Calibri"/>
              </a:defRPr>
            </a:pPr>
            <a:r>
              <a:t>Look into the West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611880"/>
            <a:ext cx="417560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 i="0">
                <a:solidFill>
                  <a:srgbClr val="333333"/>
                </a:solidFill>
                <a:latin typeface="Calibri"/>
              </a:defRPr>
            </a:pPr>
            <a:r>
              <a:t>The biggest region, but the only one that shrank in 2023.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8727" y="2926080"/>
            <a:ext cx="5364327" cy="146304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07327" y="3200400"/>
            <a:ext cx="548640" cy="548640"/>
          </a:xfrm>
          <a:prstGeom prst="ellipse">
            <a:avLst/>
          </a:prstGeom>
          <a:solidFill>
            <a:srgbClr val="2F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84567" y="3154680"/>
            <a:ext cx="41756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 i="0">
                <a:solidFill>
                  <a:srgbClr val="2F4A6D"/>
                </a:solidFill>
                <a:latin typeface="Calibri"/>
              </a:defRPr>
            </a:pPr>
            <a:r>
              <a:t>Protect the top copier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84567" y="3611880"/>
            <a:ext cx="417560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 i="0">
                <a:solidFill>
                  <a:srgbClr val="333333"/>
                </a:solidFill>
                <a:latin typeface="Calibri"/>
              </a:defRPr>
            </a:pPr>
            <a:r>
              <a:t>One product brings 2.7% of all sales.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526280"/>
            <a:ext cx="5364327" cy="146304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7240" y="4800600"/>
            <a:ext cx="548640" cy="548640"/>
          </a:xfrm>
          <a:prstGeom prst="ellipse">
            <a:avLst/>
          </a:prstGeom>
          <a:solidFill>
            <a:srgbClr val="2F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754880"/>
            <a:ext cx="41756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 i="0">
                <a:solidFill>
                  <a:srgbClr val="2F4A6D"/>
                </a:solidFill>
                <a:latin typeface="Calibri"/>
              </a:defRPr>
            </a:pPr>
            <a:r>
              <a:t>Check Copiers, Appliances and Tables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212080"/>
            <a:ext cx="417560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 i="0">
                <a:solidFill>
                  <a:srgbClr val="333333"/>
                </a:solidFill>
                <a:latin typeface="Calibri"/>
              </a:defRPr>
            </a:pPr>
            <a:r>
              <a:t>Find out why their profit fell: price, cost or mix.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78727" y="4526280"/>
            <a:ext cx="5364327" cy="146304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507327" y="4800600"/>
            <a:ext cx="548640" cy="548640"/>
          </a:xfrm>
          <a:prstGeom prst="ellipse">
            <a:avLst/>
          </a:prstGeom>
          <a:solidFill>
            <a:srgbClr val="2F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84567" y="4754880"/>
            <a:ext cx="41756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 i="0">
                <a:solidFill>
                  <a:srgbClr val="2F4A6D"/>
                </a:solidFill>
                <a:latin typeface="Calibri"/>
              </a:defRPr>
            </a:pPr>
            <a:r>
              <a:t>Plan for busy months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84567" y="5212080"/>
            <a:ext cx="417560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 i="0">
                <a:solidFill>
                  <a:srgbClr val="333333"/>
                </a:solidFill>
                <a:latin typeface="Calibri"/>
              </a:defRPr>
            </a:pPr>
            <a:r>
              <a:t>October is strong every year; February and April were strong in 2023.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2F4A6D"/>
                </a:solidFill>
                <a:latin typeface="Calibri"/>
              </a:defRPr>
            </a:pPr>
            <a:r>
              <a:t>Tools and acknowledgement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987552"/>
            <a:ext cx="1188720" cy="54864"/>
          </a:xfrm>
          <a:prstGeom prst="rect">
            <a:avLst/>
          </a:prstGeom>
          <a:solidFill>
            <a:srgbClr val="D48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D0D7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B6B6B"/>
                </a:solidFill>
                <a:latin typeface="Calibri"/>
              </a:defRPr>
            </a:pPr>
            <a:r>
              <a:t>Retail Orders Analysis  |  Gaurav Kalamkhede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 i="0">
                <a:solidFill>
                  <a:srgbClr val="2F4A6D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109441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100">
                <a:solidFill>
                  <a:srgbClr val="D4892A"/>
                </a:solidFill>
                <a:latin typeface="Calibri"/>
              </a:rPr>
              <a:t>■  </a:t>
            </a:r>
            <a:r>
              <a:rPr sz="1700" b="1">
                <a:solidFill>
                  <a:srgbClr val="2F4A6D"/>
                </a:solidFill>
                <a:latin typeface="Calibri"/>
              </a:rPr>
              <a:t>Python: </a:t>
            </a:r>
            <a:r>
              <a:rPr sz="1700" b="0">
                <a:solidFill>
                  <a:srgbClr val="333333"/>
                </a:solidFill>
                <a:latin typeface="Calibri"/>
              </a:rPr>
              <a:t>pandas (cleaning), matplotlib (charts), openpyxl (Excel), python-pptx (slides), Playwright (PDF)</a:t>
            </a:r>
          </a:p>
          <a:p>
            <a:pPr>
              <a:spcAft>
                <a:spcPts val="900"/>
              </a:spcAft>
            </a:pPr>
            <a:r>
              <a:rPr sz="1100">
                <a:solidFill>
                  <a:srgbClr val="D4892A"/>
                </a:solidFill>
                <a:latin typeface="Calibri"/>
              </a:rPr>
              <a:t>■  </a:t>
            </a:r>
            <a:r>
              <a:rPr sz="1700" b="1">
                <a:solidFill>
                  <a:srgbClr val="2F4A6D"/>
                </a:solidFill>
                <a:latin typeface="Calibri"/>
              </a:rPr>
              <a:t>SQL: </a:t>
            </a:r>
            <a:r>
              <a:rPr sz="1700" b="0">
                <a:solidFill>
                  <a:srgbClr val="333333"/>
                </a:solidFill>
                <a:latin typeface="Calibri"/>
              </a:rPr>
              <a:t>SQLite - 11 queries in sql/analysis.sql</a:t>
            </a:r>
          </a:p>
          <a:p>
            <a:pPr>
              <a:spcAft>
                <a:spcPts val="900"/>
              </a:spcAft>
            </a:pPr>
            <a:r>
              <a:rPr sz="1100">
                <a:solidFill>
                  <a:srgbClr val="D4892A"/>
                </a:solidFill>
                <a:latin typeface="Calibri"/>
              </a:rPr>
              <a:t>■  </a:t>
            </a:r>
            <a:r>
              <a:rPr sz="1700" b="1">
                <a:solidFill>
                  <a:srgbClr val="2F4A6D"/>
                </a:solidFill>
                <a:latin typeface="Calibri"/>
              </a:rPr>
              <a:t>Notebook: </a:t>
            </a:r>
            <a:r>
              <a:rPr sz="1700" b="0">
                <a:solidFill>
                  <a:srgbClr val="333333"/>
                </a:solidFill>
                <a:latin typeface="Calibri"/>
              </a:rPr>
              <a:t>notebooks/retail_orders_analysis.ipynb, executed with outputs</a:t>
            </a:r>
          </a:p>
          <a:p>
            <a:pPr>
              <a:spcAft>
                <a:spcPts val="900"/>
              </a:spcAft>
            </a:pPr>
            <a:r>
              <a:rPr sz="1100">
                <a:solidFill>
                  <a:srgbClr val="D4892A"/>
                </a:solidFill>
                <a:latin typeface="Calibri"/>
              </a:rPr>
              <a:t>■  </a:t>
            </a:r>
            <a:r>
              <a:rPr sz="1700" b="1">
                <a:solidFill>
                  <a:srgbClr val="2F4A6D"/>
                </a:solidFill>
                <a:latin typeface="Calibri"/>
              </a:rPr>
              <a:t>Reproducible: </a:t>
            </a:r>
            <a:r>
              <a:rPr sz="1700" b="0">
                <a:solidFill>
                  <a:srgbClr val="333333"/>
                </a:solidFill>
                <a:latin typeface="Calibri"/>
              </a:rPr>
              <a:t>python src/pipeline.py rebuilds the clean data, SQL results, KPIs and charts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2F4A6D"/>
                </a:solidFill>
                <a:latin typeface="Calibri"/>
              </a:defRPr>
            </a:pPr>
            <a:r>
              <a:t>Acknowledgement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886200"/>
            <a:ext cx="11094415" cy="105156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886200"/>
            <a:ext cx="64008" cy="1051560"/>
          </a:xfrm>
          <a:prstGeom prst="rect">
            <a:avLst/>
          </a:prstGeom>
          <a:solidFill>
            <a:srgbClr val="2F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06908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000">
                <a:solidFill>
                  <a:srgbClr val="D4892A"/>
                </a:solidFill>
                <a:latin typeface="Calibri"/>
              </a:rPr>
              <a:t>■  </a:t>
            </a:r>
            <a:r>
              <a:rPr sz="1600" b="0">
                <a:solidFill>
                  <a:srgbClr val="333333"/>
                </a:solidFill>
                <a:latin typeface="Calibri"/>
              </a:rPr>
              <a:t>The flow and the five core questions follow Ankit Bansal's YouTube tutorial 'End to End Data Analytics Project (Python + SQL)' and his Kaggle dataset. The code was written fresh, and the extended analysis, dashboard, report and slides were added.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Orders Analysis</dc:title>
  <dc:subject/>
  <dc:creator>Gaurav Kalamkhede</dc:creator>
  <cp:keywords/>
  <dc:description>generated using python-pptx</dc:description>
  <cp:lastModifiedBy>Gaurav Kalamkhede</cp:lastModifiedBy>
  <cp:revision>1</cp:revision>
  <dcterms:created xsi:type="dcterms:W3CDTF">2013-01-27T09:14:16Z</dcterms:created>
  <dcterms:modified xsi:type="dcterms:W3CDTF">2013-01-27T09:15:58Z</dcterms:modified>
  <cp:category/>
</cp:coreProperties>
</file>